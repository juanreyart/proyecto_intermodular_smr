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63" r:id="rId5"/>
    <p:sldId id="271" r:id="rId6"/>
    <p:sldId id="262" r:id="rId7"/>
    <p:sldId id="272" r:id="rId8"/>
    <p:sldId id="260" r:id="rId9"/>
    <p:sldId id="273" r:id="rId10"/>
    <p:sldId id="264" r:id="rId11"/>
    <p:sldId id="266" r:id="rId12"/>
    <p:sldId id="267" r:id="rId13"/>
  </p:sldIdLst>
  <p:sldSz cx="20104100" cy="11309350"/>
  <p:notesSz cx="20104100" cy="113093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3C8"/>
    <a:srgbClr val="5C7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20104100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5153" y="1270557"/>
            <a:ext cx="17779563" cy="5529016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14511" spc="-198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700" y="6937450"/>
            <a:ext cx="15216919" cy="2714244"/>
          </a:xfrm>
        </p:spPr>
        <p:txBody>
          <a:bodyPr>
            <a:normAutofit/>
          </a:bodyPr>
          <a:lstStyle>
            <a:lvl1pPr marL="0" indent="0" algn="l">
              <a:buNone/>
              <a:defRPr sz="5277">
                <a:solidFill>
                  <a:schemeClr val="bg1"/>
                </a:solidFill>
                <a:latin typeface="+mj-lt"/>
              </a:defRPr>
            </a:lvl1pPr>
            <a:lvl2pPr marL="753923" indent="0" algn="ctr">
              <a:buNone/>
              <a:defRPr sz="4617"/>
            </a:lvl2pPr>
            <a:lvl3pPr marL="1507846" indent="0" algn="ctr">
              <a:buNone/>
              <a:defRPr sz="3958"/>
            </a:lvl3pPr>
            <a:lvl4pPr marL="2261768" indent="0" algn="ctr">
              <a:buNone/>
              <a:defRPr sz="3298"/>
            </a:lvl4pPr>
            <a:lvl5pPr marL="3015691" indent="0" algn="ctr">
              <a:buNone/>
              <a:defRPr sz="3298"/>
            </a:lvl5pPr>
            <a:lvl6pPr marL="3769614" indent="0" algn="ctr">
              <a:buNone/>
              <a:defRPr sz="3298"/>
            </a:lvl6pPr>
            <a:lvl7pPr marL="4523537" indent="0" algn="ctr">
              <a:buNone/>
              <a:defRPr sz="3298"/>
            </a:lvl7pPr>
            <a:lvl8pPr marL="5277460" indent="0" algn="ctr">
              <a:buNone/>
              <a:defRPr sz="3298"/>
            </a:lvl8pPr>
            <a:lvl9pPr marL="6031382" indent="0" algn="ctr">
              <a:buNone/>
              <a:defRPr sz="3298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129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7526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153" y="1265531"/>
            <a:ext cx="17777050" cy="553404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14511" b="0" baseline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0699" y="6933052"/>
            <a:ext cx="15213778" cy="2714244"/>
          </a:xfrm>
        </p:spPr>
        <p:txBody>
          <a:bodyPr anchor="t">
            <a:normAutofit/>
          </a:bodyPr>
          <a:lstStyle>
            <a:lvl1pPr marL="0" indent="0">
              <a:buNone/>
              <a:defRPr sz="5277">
                <a:solidFill>
                  <a:schemeClr val="tx1"/>
                </a:solidFill>
                <a:latin typeface="+mj-lt"/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050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778" y="3295071"/>
            <a:ext cx="7689818" cy="6212603"/>
          </a:xfrm>
        </p:spPr>
        <p:txBody>
          <a:bodyPr/>
          <a:lstStyle>
            <a:lvl1pPr>
              <a:defRPr sz="3958"/>
            </a:lvl1pPr>
            <a:lvl2pPr>
              <a:defRPr sz="3298"/>
            </a:lvl2pPr>
            <a:lvl3pPr>
              <a:defRPr sz="2968"/>
            </a:lvl3pPr>
            <a:lvl4pPr>
              <a:defRPr sz="2638"/>
            </a:lvl4pPr>
            <a:lvl5pPr>
              <a:defRPr sz="2638"/>
            </a:lvl5pPr>
            <a:lvl6pPr>
              <a:defRPr sz="2638"/>
            </a:lvl6pPr>
            <a:lvl7pPr>
              <a:defRPr sz="2638"/>
            </a:lvl7pPr>
            <a:lvl8pPr>
              <a:defRPr sz="2638"/>
            </a:lvl8pPr>
            <a:lvl9pPr>
              <a:defRPr sz="26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2433" y="3295071"/>
            <a:ext cx="7689818" cy="6212603"/>
          </a:xfrm>
        </p:spPr>
        <p:txBody>
          <a:bodyPr/>
          <a:lstStyle>
            <a:lvl1pPr>
              <a:defRPr sz="3958"/>
            </a:lvl1pPr>
            <a:lvl2pPr>
              <a:defRPr sz="3298"/>
            </a:lvl2pPr>
            <a:lvl3pPr>
              <a:defRPr sz="2968"/>
            </a:lvl3pPr>
            <a:lvl4pPr>
              <a:defRPr sz="2638"/>
            </a:lvl4pPr>
            <a:lvl5pPr>
              <a:defRPr sz="2638"/>
            </a:lvl5pPr>
            <a:lvl6pPr>
              <a:defRPr sz="2638"/>
            </a:lvl6pPr>
            <a:lvl7pPr>
              <a:defRPr sz="2638"/>
            </a:lvl7pPr>
            <a:lvl8pPr>
              <a:defRPr sz="2638"/>
            </a:lvl8pPr>
            <a:lvl9pPr>
              <a:defRPr sz="26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8608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778" y="3364881"/>
            <a:ext cx="7689818" cy="1192940"/>
          </a:xfrm>
        </p:spPr>
        <p:txBody>
          <a:bodyPr anchor="ctr">
            <a:normAutofit/>
          </a:bodyPr>
          <a:lstStyle>
            <a:lvl1pPr marL="0" indent="0">
              <a:buNone/>
              <a:defRPr sz="3628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5778" y="4540039"/>
            <a:ext cx="7689818" cy="5277697"/>
          </a:xfrm>
        </p:spPr>
        <p:txBody>
          <a:bodyPr/>
          <a:lstStyle>
            <a:lvl1pPr>
              <a:defRPr sz="3958"/>
            </a:lvl1pPr>
            <a:lvl2pPr>
              <a:defRPr sz="3298"/>
            </a:lvl2pPr>
            <a:lvl3pPr>
              <a:defRPr sz="2968"/>
            </a:lvl3pPr>
            <a:lvl4pPr>
              <a:defRPr sz="2638"/>
            </a:lvl4pPr>
            <a:lvl5pPr>
              <a:defRPr sz="2638"/>
            </a:lvl5pPr>
            <a:lvl6pPr>
              <a:defRPr sz="2638"/>
            </a:lvl6pPr>
            <a:lvl7pPr>
              <a:defRPr sz="2638"/>
            </a:lvl7pPr>
            <a:lvl8pPr>
              <a:defRPr sz="2638"/>
            </a:lvl8pPr>
            <a:lvl9pPr>
              <a:defRPr sz="26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906295" y="3361530"/>
            <a:ext cx="7689818" cy="1191252"/>
          </a:xfrm>
        </p:spPr>
        <p:txBody>
          <a:bodyPr anchor="ctr">
            <a:normAutofit/>
          </a:bodyPr>
          <a:lstStyle>
            <a:lvl1pPr marL="0" indent="0">
              <a:buNone/>
              <a:defRPr sz="3628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06295" y="4536586"/>
            <a:ext cx="7689818" cy="5277697"/>
          </a:xfrm>
        </p:spPr>
        <p:txBody>
          <a:bodyPr/>
          <a:lstStyle>
            <a:lvl1pPr>
              <a:defRPr sz="3958"/>
            </a:lvl1pPr>
            <a:lvl2pPr>
              <a:defRPr sz="3298"/>
            </a:lvl2pPr>
            <a:lvl3pPr>
              <a:defRPr sz="2968"/>
            </a:lvl3pPr>
            <a:lvl4pPr>
              <a:defRPr sz="2638"/>
            </a:lvl4pPr>
            <a:lvl5pPr>
              <a:defRPr sz="2638"/>
            </a:lvl5pPr>
            <a:lvl6pPr>
              <a:defRPr sz="2638"/>
            </a:lvl6pPr>
            <a:lvl7pPr>
              <a:defRPr sz="2638"/>
            </a:lvl7pPr>
            <a:lvl8pPr>
              <a:defRPr sz="2638"/>
            </a:lvl8pPr>
            <a:lvl9pPr>
              <a:defRPr sz="263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493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102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598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565062" y="0"/>
            <a:ext cx="7539038" cy="113093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13622711" y="894263"/>
            <a:ext cx="5578888" cy="3166618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6596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6506" y="1256594"/>
            <a:ext cx="10052050" cy="7539567"/>
          </a:xfrm>
        </p:spPr>
        <p:txBody>
          <a:bodyPr/>
          <a:lstStyle>
            <a:lvl1pPr>
              <a:defRPr sz="5277"/>
            </a:lvl1pPr>
            <a:lvl2pPr>
              <a:defRPr sz="4617"/>
            </a:lvl2pPr>
            <a:lvl3pPr>
              <a:defRPr sz="3958"/>
            </a:lvl3pPr>
            <a:lvl4pPr>
              <a:defRPr sz="3298"/>
            </a:lvl4pPr>
            <a:lvl5pPr>
              <a:defRPr sz="3298"/>
            </a:lvl5pPr>
            <a:lvl6pPr>
              <a:defRPr sz="3298"/>
            </a:lvl6pPr>
            <a:lvl7pPr>
              <a:defRPr sz="3298"/>
            </a:lvl7pPr>
            <a:lvl8pPr>
              <a:defRPr sz="3298"/>
            </a:lvl8pPr>
            <a:lvl9pPr>
              <a:defRPr sz="3298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46749" y="4142167"/>
            <a:ext cx="5604018" cy="5156633"/>
          </a:xfrm>
        </p:spPr>
        <p:txBody>
          <a:bodyPr>
            <a:normAutofit/>
          </a:bodyPr>
          <a:lstStyle>
            <a:lvl1pPr marL="0" marR="0" indent="0" algn="l" defTabSz="1507846" rtl="0" eaLnBrk="1" fontAlgn="auto" latinLnBrk="0" hangingPunct="1">
              <a:lnSpc>
                <a:spcPct val="100000"/>
              </a:lnSpc>
              <a:spcBef>
                <a:spcPts val="1979"/>
              </a:spcBef>
              <a:spcAft>
                <a:spcPts val="0"/>
              </a:spcAft>
              <a:buClrTx/>
              <a:buSzTx/>
              <a:buFontTx/>
              <a:buNone/>
              <a:tabLst/>
              <a:defRPr sz="2968">
                <a:solidFill>
                  <a:srgbClr val="262626"/>
                </a:solidFill>
              </a:defRPr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marL="0" marR="0" lvl="0" indent="0" algn="l" defTabSz="1507846" rtl="0" eaLnBrk="1" fontAlgn="auto" latinLnBrk="0" hangingPunct="1">
              <a:lnSpc>
                <a:spcPct val="100000"/>
              </a:lnSpc>
              <a:spcBef>
                <a:spcPts val="230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84319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0544" y="8935784"/>
            <a:ext cx="17777050" cy="1011349"/>
          </a:xfrm>
        </p:spPr>
        <p:txBody>
          <a:bodyPr anchor="b">
            <a:normAutofit/>
          </a:bodyPr>
          <a:lstStyle>
            <a:lvl1pPr>
              <a:defRPr sz="5277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20104100" cy="8791135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1319"/>
              </a:spcBef>
              <a:buNone/>
              <a:defRPr sz="527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753923" indent="0">
              <a:buNone/>
              <a:defRPr sz="4617"/>
            </a:lvl2pPr>
            <a:lvl3pPr marL="1507846" indent="0">
              <a:buNone/>
              <a:defRPr sz="3958"/>
            </a:lvl3pPr>
            <a:lvl4pPr marL="2261768" indent="0">
              <a:buNone/>
              <a:defRPr sz="3298"/>
            </a:lvl4pPr>
            <a:lvl5pPr marL="3015691" indent="0">
              <a:buNone/>
              <a:defRPr sz="3298"/>
            </a:lvl5pPr>
            <a:lvl6pPr marL="3769614" indent="0">
              <a:buNone/>
              <a:defRPr sz="3298"/>
            </a:lvl6pPr>
            <a:lvl7pPr marL="4523537" indent="0">
              <a:buNone/>
              <a:defRPr sz="3298"/>
            </a:lvl7pPr>
            <a:lvl8pPr marL="5277460" indent="0">
              <a:buNone/>
              <a:defRPr sz="3298"/>
            </a:lvl8pPr>
            <a:lvl9pPr marL="6031382" indent="0">
              <a:buNone/>
              <a:defRPr sz="3298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777" y="9745591"/>
            <a:ext cx="15218804" cy="879616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309">
                <a:solidFill>
                  <a:srgbClr val="262626"/>
                </a:solidFill>
              </a:defRPr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20567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4905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418409" y="1146642"/>
            <a:ext cx="4334947" cy="791654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72213" y="1178058"/>
            <a:ext cx="12753538" cy="890611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7008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0" b="0" i="0">
                <a:solidFill>
                  <a:srgbClr val="13131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9078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876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3736" y="823767"/>
            <a:ext cx="17763857" cy="2734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5779" y="3317410"/>
            <a:ext cx="17732444" cy="6210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30856" y="10574600"/>
            <a:ext cx="6785134" cy="376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7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856" y="10809181"/>
            <a:ext cx="8292941" cy="376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67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451349" y="9690639"/>
            <a:ext cx="4824984" cy="23038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98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959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0" r:id="rId13"/>
  </p:sldLayoutIdLst>
  <p:txStyles>
    <p:titleStyle>
      <a:lvl1pPr algn="l" defTabSz="1507846" rtl="0" eaLnBrk="1" latinLnBrk="0" hangingPunct="1">
        <a:lnSpc>
          <a:spcPct val="85000"/>
        </a:lnSpc>
        <a:spcBef>
          <a:spcPct val="0"/>
        </a:spcBef>
        <a:buNone/>
        <a:defRPr sz="8905" kern="1200" spc="-198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50785" indent="-150785" algn="l" defTabSz="1507846" rtl="0" eaLnBrk="1" latinLnBrk="0" hangingPunct="1">
        <a:lnSpc>
          <a:spcPct val="85000"/>
        </a:lnSpc>
        <a:spcBef>
          <a:spcPts val="2144"/>
        </a:spcBef>
        <a:buFont typeface="Arial" pitchFamily="34" charset="0"/>
        <a:buChar char=" "/>
        <a:defRPr sz="395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72981" indent="-565442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395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904707" indent="-904707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3298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57061" indent="-1357061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29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09415" indent="-1809415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29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978800" indent="-376961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29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308600" indent="-376961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29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638400" indent="-376961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29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968200" indent="-376961" algn="l" defTabSz="1507846" rtl="0" eaLnBrk="1" latinLnBrk="0" hangingPunct="1">
        <a:lnSpc>
          <a:spcPct val="85000"/>
        </a:lnSpc>
        <a:spcBef>
          <a:spcPts val="989"/>
        </a:spcBef>
        <a:buFont typeface="Arial" pitchFamily="34" charset="0"/>
        <a:buChar char=" "/>
        <a:defRPr sz="296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1507846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hyperlink" Target="https://github.com/juanreyart/Proyecto_Intermodular_SMR_Juan_Rey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9945" y="3224472"/>
            <a:ext cx="9291470" cy="13606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8750" dirty="0">
                <a:solidFill>
                  <a:srgbClr val="0782C6"/>
                </a:solidFill>
                <a:latin typeface="Aptos Display" panose="020B0004020202020204" pitchFamily="34" charset="0"/>
              </a:rPr>
              <a:t>Galería de Arte Digital</a:t>
            </a:r>
            <a:endParaRPr sz="8750" dirty="0">
              <a:latin typeface="Aptos Display" panose="020B00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117850" y="5429039"/>
            <a:ext cx="929147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3600" spc="-114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  <a:cs typeface="Arial MT"/>
              </a:rPr>
              <a:t>Diseño y Desarrollo de Sistema Informático</a:t>
            </a:r>
            <a:endParaRPr sz="3600" dirty="0">
              <a:solidFill>
                <a:schemeClr val="tx1">
                  <a:lumMod val="65000"/>
                  <a:lumOff val="35000"/>
                </a:schemeClr>
              </a:solidFill>
              <a:latin typeface="Aptos Display" panose="020B0004020202020204" pitchFamily="34" charset="0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5075" y="6335815"/>
            <a:ext cx="48768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latin typeface="Aptos Display" panose="020B0004020202020204" pitchFamily="34" charset="0"/>
                <a:cs typeface="Arial MT"/>
              </a:rPr>
              <a:t>Juan</a:t>
            </a:r>
            <a:r>
              <a:rPr sz="3200" spc="-15" dirty="0">
                <a:latin typeface="Aptos Display" panose="020B0004020202020204" pitchFamily="34" charset="0"/>
                <a:cs typeface="Arial MT"/>
              </a:rPr>
              <a:t> </a:t>
            </a:r>
            <a:r>
              <a:rPr sz="3200" dirty="0">
                <a:latin typeface="Aptos Display" panose="020B0004020202020204" pitchFamily="34" charset="0"/>
                <a:cs typeface="Arial MT"/>
              </a:rPr>
              <a:t>An</a:t>
            </a:r>
            <a:r>
              <a:rPr lang="es-ES" sz="3200" dirty="0">
                <a:latin typeface="Aptos Display" panose="020B0004020202020204" pitchFamily="34" charset="0"/>
                <a:cs typeface="Arial MT"/>
              </a:rPr>
              <a:t>t</a:t>
            </a:r>
            <a:r>
              <a:rPr sz="3200" dirty="0" err="1">
                <a:latin typeface="Aptos Display" panose="020B0004020202020204" pitchFamily="34" charset="0"/>
                <a:cs typeface="Arial MT"/>
              </a:rPr>
              <a:t>onio</a:t>
            </a:r>
            <a:r>
              <a:rPr sz="3200" spc="-30" dirty="0">
                <a:latin typeface="Aptos Display" panose="020B0004020202020204" pitchFamily="34" charset="0"/>
                <a:cs typeface="Arial MT"/>
              </a:rPr>
              <a:t> </a:t>
            </a:r>
            <a:r>
              <a:rPr sz="3200" spc="-110" dirty="0">
                <a:latin typeface="Aptos Display" panose="020B0004020202020204" pitchFamily="34" charset="0"/>
                <a:cs typeface="Arial MT"/>
              </a:rPr>
              <a:t>Rey</a:t>
            </a:r>
            <a:r>
              <a:rPr sz="3200" spc="100" dirty="0">
                <a:latin typeface="Aptos Display" panose="020B0004020202020204" pitchFamily="34" charset="0"/>
                <a:cs typeface="Arial MT"/>
              </a:rPr>
              <a:t> </a:t>
            </a:r>
            <a:r>
              <a:rPr sz="3200" spc="-10" dirty="0" err="1">
                <a:latin typeface="Aptos Display" panose="020B0004020202020204" pitchFamily="34" charset="0"/>
                <a:cs typeface="Arial MT"/>
              </a:rPr>
              <a:t>Vicen</a:t>
            </a:r>
            <a:r>
              <a:rPr lang="es-ES" sz="3200" spc="-10" dirty="0">
                <a:latin typeface="Aptos Display" panose="020B0004020202020204" pitchFamily="34" charset="0"/>
                <a:cs typeface="Arial MT"/>
              </a:rPr>
              <a:t>t</a:t>
            </a:r>
            <a:r>
              <a:rPr sz="3200" spc="-10" dirty="0">
                <a:latin typeface="Aptos Display" panose="020B0004020202020204" pitchFamily="34" charset="0"/>
                <a:cs typeface="Arial MT"/>
              </a:rPr>
              <a:t>e</a:t>
            </a:r>
            <a:endParaRPr sz="3200" dirty="0">
              <a:latin typeface="Aptos Display" panose="020B0004020202020204" pitchFamily="34" charset="0"/>
              <a:cs typeface="Arial MT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FFFB33-2C95-3E95-422F-EE2FA9FCD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00199">
            <a:off x="11790200" y="5104561"/>
            <a:ext cx="6930005" cy="495123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4E056B5-E977-CD31-2414-0B0315700D08}"/>
              </a:ext>
            </a:extLst>
          </p:cNvPr>
          <p:cNvCxnSpPr>
            <a:cxnSpLocks/>
          </p:cNvCxnSpPr>
          <p:nvPr/>
        </p:nvCxnSpPr>
        <p:spPr>
          <a:xfrm flipH="1">
            <a:off x="6298900" y="5045075"/>
            <a:ext cx="175260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object 2">
            <a:extLst>
              <a:ext uri="{FF2B5EF4-FFF2-40B4-BE49-F238E27FC236}">
                <a16:creationId xmlns:a16="http://schemas.microsoft.com/office/drawing/2014/main" id="{DF2A90EA-FC27-31B1-D7C7-B610852EF1E7}"/>
              </a:ext>
            </a:extLst>
          </p:cNvPr>
          <p:cNvSpPr txBox="1">
            <a:spLocks/>
          </p:cNvSpPr>
          <p:nvPr/>
        </p:nvSpPr>
        <p:spPr>
          <a:xfrm>
            <a:off x="4718050" y="2717923"/>
            <a:ext cx="6322135" cy="506549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905" kern="1200" spc="-19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3200" spc="300" dirty="0">
                <a:solidFill>
                  <a:srgbClr val="0782C6"/>
                </a:solidFill>
                <a:latin typeface="Aptos Display" panose="020B0004020202020204" pitchFamily="34" charset="0"/>
              </a:rPr>
              <a:t>PROYECTO OFIMÁTICA</a:t>
            </a:r>
            <a:endParaRPr lang="es-ES" sz="3200" spc="3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8850" y="4874564"/>
            <a:ext cx="12801600" cy="13792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8850" spc="-135" dirty="0">
                <a:solidFill>
                  <a:schemeClr val="tx1"/>
                </a:solidFill>
                <a:latin typeface="Aptos Display" panose="020B0004020202020204" pitchFamily="34" charset="0"/>
                <a:cs typeface="Calibri"/>
              </a:rPr>
              <a:t>1. Descripción de la Empresa</a:t>
            </a:r>
            <a:endParaRPr sz="8850" dirty="0">
              <a:solidFill>
                <a:schemeClr val="tx1"/>
              </a:solidFill>
              <a:latin typeface="Aptos Display" panose="020B0004020202020204" pitchFamily="34" charset="0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363013-8ABD-C8D2-68BC-08F36C89AD3C}"/>
              </a:ext>
            </a:extLst>
          </p:cNvPr>
          <p:cNvSpPr txBox="1"/>
          <p:nvPr/>
        </p:nvSpPr>
        <p:spPr>
          <a:xfrm>
            <a:off x="7080250" y="6264050"/>
            <a:ext cx="7391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2800" b="1" spc="50" dirty="0">
                <a:solidFill>
                  <a:srgbClr val="037CC6"/>
                </a:solidFill>
                <a:latin typeface="Aptos Display" panose="020B0004020202020204" pitchFamily="34" charset="0"/>
                <a:cs typeface="Arial MT"/>
              </a:rPr>
              <a:t>Visión, Concepto y Objetivos del Proyecto</a:t>
            </a:r>
            <a:endParaRPr lang="es-ES" sz="2800" b="1" dirty="0">
              <a:latin typeface="Aptos Display" panose="020B0004020202020204" pitchFamily="34" charset="0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3736" y="1721975"/>
            <a:ext cx="17763857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6000" b="1" dirty="0">
                <a:solidFill>
                  <a:srgbClr val="151515"/>
                </a:solidFill>
                <a:latin typeface="Aptos Display" panose="020B0004020202020204" pitchFamily="34" charset="0"/>
              </a:rPr>
              <a:t>Galería de Arte Digital</a:t>
            </a:r>
            <a:endParaRPr sz="6000" b="1" dirty="0">
              <a:latin typeface="Aptos Display" panose="020B00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1726" y="4336545"/>
            <a:ext cx="8467725" cy="398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3700" b="1" spc="50" dirty="0">
                <a:solidFill>
                  <a:srgbClr val="037CC6"/>
                </a:solidFill>
                <a:latin typeface="Aptos Display" panose="020B0004020202020204" pitchFamily="34" charset="0"/>
                <a:cs typeface="Arial MT"/>
              </a:rPr>
              <a:t>Espacio Híbrido Tecnológico</a:t>
            </a:r>
            <a:endParaRPr sz="3700" b="1" dirty="0">
              <a:latin typeface="Aptos Display" panose="020B0004020202020204" pitchFamily="34" charset="0"/>
              <a:cs typeface="Arial MT"/>
            </a:endParaRPr>
          </a:p>
          <a:p>
            <a:pPr marL="15240" marR="5080" indent="2540" algn="just">
              <a:lnSpc>
                <a:spcPct val="134600"/>
              </a:lnSpc>
              <a:spcBef>
                <a:spcPts val="1480"/>
              </a:spcBef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Ubicada en Vilagarcía de Arousa, nuestra galería fusiona la exposición de arte tradicional con la vanguardia digital.</a:t>
            </a:r>
          </a:p>
          <a:p>
            <a:pPr marL="15240" marR="5080" indent="2540" algn="just">
              <a:lnSpc>
                <a:spcPct val="134600"/>
              </a:lnSpc>
              <a:spcBef>
                <a:spcPts val="1480"/>
              </a:spcBef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Nos dedicamos a la exhibición y gestión de obras en alta resolución (4K) y activos digitales  (</a:t>
            </a:r>
            <a:r>
              <a:rPr lang="es-ES" sz="2450" dirty="0" err="1">
                <a:latin typeface="Aptos Display" panose="020B0004020202020204" pitchFamily="34" charset="0"/>
                <a:cs typeface="Arial MT"/>
              </a:rPr>
              <a:t>NFTs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), ofreciendo una experiencia inmersiva única soportada por una infraestructura de última generación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ADB8C0-0BE0-4C03-EBB2-239FFAC96E84}"/>
              </a:ext>
            </a:extLst>
          </p:cNvPr>
          <p:cNvCxnSpPr>
            <a:cxnSpLocks/>
          </p:cNvCxnSpPr>
          <p:nvPr/>
        </p:nvCxnSpPr>
        <p:spPr>
          <a:xfrm flipV="1">
            <a:off x="831850" y="1768475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F2B55F2E-FA8A-00AD-CD7E-C877DB412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79868" y="3815696"/>
            <a:ext cx="8467725" cy="5026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chemeClr val="tx1"/>
            </a:solidFill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3736" y="1709470"/>
            <a:ext cx="17763857" cy="9630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30"/>
              </a:spcBef>
            </a:pPr>
            <a:r>
              <a:rPr lang="es-ES" sz="6150" spc="1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endParaRPr sz="61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1850" y="5739088"/>
            <a:ext cx="5477673" cy="22894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575" algn="ctr">
              <a:lnSpc>
                <a:spcPct val="100000"/>
              </a:lnSpc>
              <a:spcBef>
                <a:spcPts val="90"/>
              </a:spcBef>
            </a:pPr>
            <a:r>
              <a:rPr lang="es-ES" sz="4000" b="1" spc="210" dirty="0">
                <a:solidFill>
                  <a:srgbClr val="0083C8"/>
                </a:solidFill>
                <a:latin typeface="Aptos Display" panose="020B0004020202020204" pitchFamily="34" charset="0"/>
                <a:cs typeface="Calibri"/>
              </a:rPr>
              <a:t>Visibilidad</a:t>
            </a:r>
            <a:endParaRPr sz="4000" b="1" dirty="0">
              <a:latin typeface="Aptos Display" panose="020B0004020202020204" pitchFamily="34" charset="0"/>
              <a:cs typeface="Calibri"/>
            </a:endParaRPr>
          </a:p>
          <a:p>
            <a:pPr marL="12700" marR="5080" algn="ctr">
              <a:lnSpc>
                <a:spcPct val="129299"/>
              </a:lnSpc>
              <a:spcBef>
                <a:spcPts val="1445"/>
              </a:spcBef>
            </a:pPr>
            <a:r>
              <a:rPr lang="es-ES" sz="2550" dirty="0">
                <a:latin typeface="Aptos Display" panose="020B0004020202020204" pitchFamily="34" charset="0"/>
                <a:cs typeface="Calibri"/>
              </a:rPr>
              <a:t>Garantizar que cada obra se visualice con fidelidad absoluta mediante paneles 4K sincronizados.</a:t>
            </a:r>
            <a:endParaRPr sz="2550" dirty="0">
              <a:latin typeface="Aptos Display" panose="020B0004020202020204" pitchFamily="34" charset="0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04051" y="5739088"/>
            <a:ext cx="5837208" cy="228440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4685"/>
              </a:lnSpc>
              <a:spcBef>
                <a:spcPts val="120"/>
              </a:spcBef>
              <a:tabLst>
                <a:tab pos="2146935" algn="l"/>
              </a:tabLst>
            </a:pPr>
            <a:r>
              <a:rPr lang="es-ES" sz="4100" b="1" dirty="0">
                <a:solidFill>
                  <a:srgbClr val="0080CF"/>
                </a:solidFill>
                <a:latin typeface="Aptos Display" panose="020B0004020202020204" pitchFamily="34" charset="0"/>
                <a:cs typeface="Calibri"/>
              </a:rPr>
              <a:t>Rendimiento</a:t>
            </a:r>
            <a:endParaRPr lang="es-ES" sz="4350" b="1" dirty="0">
              <a:latin typeface="Aptos Display" panose="020B0004020202020204" pitchFamily="34" charset="0"/>
              <a:cs typeface="Calibri"/>
            </a:endParaRPr>
          </a:p>
          <a:p>
            <a:pPr marL="206375" marR="158115" algn="ctr">
              <a:lnSpc>
                <a:spcPct val="134600"/>
              </a:lnSpc>
              <a:spcBef>
                <a:spcPts val="1355"/>
              </a:spcBef>
            </a:pPr>
            <a:r>
              <a:rPr lang="es-ES" sz="2450" spc="100" dirty="0">
                <a:latin typeface="Aptos Display" panose="020B0004020202020204" pitchFamily="34" charset="0"/>
                <a:cs typeface="Calibri"/>
              </a:rPr>
              <a:t>Eliminar tiempos de carga pesados mediante el uso de redes Gigabit y hardware DDR5.</a:t>
            </a:r>
            <a:endParaRPr sz="2450" dirty="0">
              <a:latin typeface="Aptos Display" panose="020B0004020202020204" pitchFamily="34" charset="0"/>
              <a:cs typeface="Calibri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48B10B9C-D3D0-D07C-66B6-D7AF99D6E54D}"/>
              </a:ext>
            </a:extLst>
          </p:cNvPr>
          <p:cNvSpPr txBox="1"/>
          <p:nvPr/>
        </p:nvSpPr>
        <p:spPr>
          <a:xfrm>
            <a:off x="13557250" y="5739088"/>
            <a:ext cx="5026660" cy="228440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4685"/>
              </a:lnSpc>
              <a:spcBef>
                <a:spcPts val="120"/>
              </a:spcBef>
              <a:tabLst>
                <a:tab pos="2146935" algn="l"/>
              </a:tabLst>
            </a:pPr>
            <a:r>
              <a:rPr lang="es-ES" sz="4100" b="1" dirty="0">
                <a:solidFill>
                  <a:srgbClr val="0080CF"/>
                </a:solidFill>
                <a:latin typeface="Aptos Display" panose="020B0004020202020204" pitchFamily="34" charset="0"/>
                <a:cs typeface="Calibri"/>
              </a:rPr>
              <a:t>Seguridad</a:t>
            </a:r>
            <a:endParaRPr sz="4350" b="1" dirty="0">
              <a:latin typeface="Aptos Display" panose="020B0004020202020204" pitchFamily="34" charset="0"/>
              <a:cs typeface="Calibri"/>
            </a:endParaRPr>
          </a:p>
          <a:p>
            <a:pPr marL="206375" marR="158115" algn="ctr">
              <a:lnSpc>
                <a:spcPct val="134600"/>
              </a:lnSpc>
              <a:spcBef>
                <a:spcPts val="1355"/>
              </a:spcBef>
            </a:pPr>
            <a:r>
              <a:rPr lang="es-ES" sz="2450" spc="100" dirty="0">
                <a:latin typeface="Aptos Display" panose="020B0004020202020204" pitchFamily="34" charset="0"/>
                <a:cs typeface="Calibri"/>
              </a:rPr>
              <a:t>Protección total de activos digitales y continuidad eléctrica mediante sistemas SAI.</a:t>
            </a:r>
            <a:endParaRPr sz="2450" dirty="0">
              <a:latin typeface="Aptos Display" panose="020B0004020202020204" pitchFamily="34" charset="0"/>
              <a:cs typeface="Calibri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D714608B-3144-D70A-5034-17B4A5C5A1DE}"/>
              </a:ext>
            </a:extLst>
          </p:cNvPr>
          <p:cNvSpPr txBox="1">
            <a:spLocks/>
          </p:cNvSpPr>
          <p:nvPr/>
        </p:nvSpPr>
        <p:spPr>
          <a:xfrm>
            <a:off x="1083736" y="1748905"/>
            <a:ext cx="17763857" cy="884215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900" b="0" i="0" kern="1200" spc="-198" baseline="0">
                <a:solidFill>
                  <a:srgbClr val="131313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5650" b="1" dirty="0">
                <a:solidFill>
                  <a:srgbClr val="151515"/>
                </a:solidFill>
                <a:latin typeface="Aptos Display" panose="020B0004020202020204" pitchFamily="34" charset="0"/>
              </a:rPr>
              <a:t>Misión y Solución Técnica</a:t>
            </a:r>
            <a:endParaRPr lang="es-ES" sz="5650" b="1" dirty="0">
              <a:latin typeface="Aptos Display" panose="020B0004020202020204" pitchFamily="34" charset="0"/>
            </a:endParaRP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70D0566-074C-C079-DD14-8C0878F16989}"/>
              </a:ext>
            </a:extLst>
          </p:cNvPr>
          <p:cNvCxnSpPr>
            <a:cxnSpLocks/>
          </p:cNvCxnSpPr>
          <p:nvPr/>
        </p:nvCxnSpPr>
        <p:spPr>
          <a:xfrm flipV="1">
            <a:off x="831850" y="1768475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E2843139-E549-F187-8F1E-7BEA8E85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78" y="3902075"/>
            <a:ext cx="1530272" cy="15302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9DD39DE-EC00-3958-228A-6ECCC7A85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679" y="3857352"/>
            <a:ext cx="1530272" cy="153027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D2444E9-95FB-BCF0-DCD3-877EB3578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84780" y="3857352"/>
            <a:ext cx="1530272" cy="1530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8850" y="4874564"/>
            <a:ext cx="12801600" cy="13792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8850" spc="-135" dirty="0">
                <a:solidFill>
                  <a:schemeClr val="tx1"/>
                </a:solidFill>
                <a:latin typeface="Aptos Display" panose="020B0004020202020204" pitchFamily="34" charset="0"/>
                <a:cs typeface="Calibri"/>
              </a:rPr>
              <a:t>2. Equipos Informáticos</a:t>
            </a:r>
            <a:endParaRPr sz="8850" dirty="0">
              <a:solidFill>
                <a:schemeClr val="tx1"/>
              </a:solidFill>
              <a:latin typeface="Aptos Display" panose="020B0004020202020204" pitchFamily="34" charset="0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363013-8ABD-C8D2-68BC-08F36C89AD3C}"/>
              </a:ext>
            </a:extLst>
          </p:cNvPr>
          <p:cNvSpPr txBox="1"/>
          <p:nvPr/>
        </p:nvSpPr>
        <p:spPr>
          <a:xfrm>
            <a:off x="5556250" y="6264050"/>
            <a:ext cx="8915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2800" b="1" spc="50" dirty="0">
                <a:solidFill>
                  <a:srgbClr val="037CC6"/>
                </a:solidFill>
                <a:latin typeface="Aptos Display" panose="020B0004020202020204" pitchFamily="34" charset="0"/>
                <a:cs typeface="Arial MT"/>
              </a:rPr>
              <a:t>Hardware Seleccionado y Especificaciones Técnicas</a:t>
            </a:r>
            <a:endParaRPr lang="es-ES" sz="2800" b="1" dirty="0">
              <a:latin typeface="Aptos Display" panose="020B0004020202020204" pitchFamily="34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52387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0" y="15706"/>
            <a:ext cx="10036343" cy="112928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6673" y="2613661"/>
            <a:ext cx="7406005" cy="19530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6300" dirty="0"/>
              <a:t> </a:t>
            </a:r>
            <a:br>
              <a:rPr lang="es-ES" sz="6300" dirty="0"/>
            </a:br>
            <a:endParaRPr sz="6300" dirty="0"/>
          </a:p>
        </p:txBody>
      </p:sp>
      <p:sp>
        <p:nvSpPr>
          <p:cNvPr id="4" name="object 4"/>
          <p:cNvSpPr txBox="1"/>
          <p:nvPr/>
        </p:nvSpPr>
        <p:spPr>
          <a:xfrm>
            <a:off x="925460" y="4654696"/>
            <a:ext cx="8135989" cy="511325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685">
              <a:lnSpc>
                <a:spcPts val="4610"/>
              </a:lnSpc>
              <a:spcBef>
                <a:spcPts val="120"/>
              </a:spcBef>
              <a:tabLst>
                <a:tab pos="2800350" algn="l"/>
                <a:tab pos="5418455" algn="l"/>
              </a:tabLst>
            </a:pPr>
            <a:r>
              <a:rPr lang="es-ES" sz="4100" b="1" spc="80" dirty="0">
                <a:solidFill>
                  <a:srgbClr val="0187CA"/>
                </a:solidFill>
                <a:latin typeface="Aptos Display" panose="020B0004020202020204" pitchFamily="34" charset="0"/>
                <a:cs typeface="Calibri"/>
              </a:rPr>
              <a:t>Hardware de Alto Nivel</a:t>
            </a:r>
            <a:endParaRPr sz="4500" b="1" dirty="0">
              <a:latin typeface="Aptos Display" panose="020B0004020202020204" pitchFamily="34" charset="0"/>
              <a:cs typeface="Calibri"/>
            </a:endParaRPr>
          </a:p>
          <a:p>
            <a:pPr marL="12700" marR="5080" indent="17145" algn="just">
              <a:lnSpc>
                <a:spcPct val="129299"/>
              </a:lnSpc>
              <a:spcBef>
                <a:spcPts val="1345"/>
              </a:spcBef>
            </a:pPr>
            <a:r>
              <a:rPr lang="es-ES" sz="2550" dirty="0">
                <a:latin typeface="Aptos Display" panose="020B0004020202020204" pitchFamily="34" charset="0"/>
                <a:cs typeface="Arial MT"/>
              </a:rPr>
              <a:t>Para la gestión fluida de las 8 pantallas y las ediciones de archivos pesados, hemos configurado: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b="1" dirty="0">
                <a:latin typeface="Aptos Display" panose="020B0004020202020204" pitchFamily="34" charset="0"/>
                <a:cs typeface="Arial MT"/>
              </a:rPr>
              <a:t>Procesador: 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Intel i7-14700KF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b="1" dirty="0">
                <a:latin typeface="Aptos Display" panose="020B0004020202020204" pitchFamily="34" charset="0"/>
                <a:cs typeface="Arial MT"/>
              </a:rPr>
              <a:t>Memoria RAM: 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32GB DDR5 @5600MHz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b="1" dirty="0">
                <a:latin typeface="Aptos Display" panose="020B0004020202020204" pitchFamily="34" charset="0"/>
                <a:cs typeface="Arial MT"/>
              </a:rPr>
              <a:t>Gráficos: 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GPU 16GB VRAM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b="1" dirty="0">
                <a:latin typeface="Aptos Display" panose="020B0004020202020204" pitchFamily="34" charset="0"/>
                <a:cs typeface="Arial MT"/>
              </a:rPr>
              <a:t>Almacenamiento: 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SSD 1TB  </a:t>
            </a:r>
            <a:r>
              <a:rPr lang="es-ES" sz="2550" dirty="0" err="1">
                <a:latin typeface="Aptos Display" panose="020B0004020202020204" pitchFamily="34" charset="0"/>
                <a:cs typeface="Arial MT"/>
              </a:rPr>
              <a:t>NVMe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 Gen3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b="1" dirty="0">
                <a:latin typeface="Aptos Display" panose="020B0004020202020204" pitchFamily="34" charset="0"/>
                <a:cs typeface="Arial MT"/>
              </a:rPr>
              <a:t>SO: 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Windows 11 Pro</a:t>
            </a:r>
            <a:endParaRPr sz="2550" dirty="0">
              <a:latin typeface="Aptos Display" panose="020B0004020202020204" pitchFamily="34" charset="0"/>
              <a:cs typeface="Arial MT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B1AF55E-34AF-05E9-01A2-321C14167F45}"/>
              </a:ext>
            </a:extLst>
          </p:cNvPr>
          <p:cNvSpPr txBox="1">
            <a:spLocks/>
          </p:cNvSpPr>
          <p:nvPr/>
        </p:nvSpPr>
        <p:spPr>
          <a:xfrm>
            <a:off x="1083736" y="3091137"/>
            <a:ext cx="17763857" cy="938076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905" kern="1200" spc="-19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6000" b="1" dirty="0">
                <a:solidFill>
                  <a:srgbClr val="151515"/>
                </a:solidFill>
                <a:latin typeface="Aptos Display" panose="020B0004020202020204" pitchFamily="34" charset="0"/>
              </a:rPr>
              <a:t>Estación de Gestión</a:t>
            </a:r>
            <a:endParaRPr lang="es-ES" sz="6000" b="1" dirty="0">
              <a:latin typeface="Aptos Display" panose="020B0004020202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CF97F0F-B5CE-A610-EB94-C6FB3ABBFA95}"/>
              </a:ext>
            </a:extLst>
          </p:cNvPr>
          <p:cNvCxnSpPr>
            <a:cxnSpLocks/>
          </p:cNvCxnSpPr>
          <p:nvPr/>
        </p:nvCxnSpPr>
        <p:spPr>
          <a:xfrm flipV="1">
            <a:off x="831850" y="3137637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5050" y="4874564"/>
            <a:ext cx="12801600" cy="137922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8850" spc="-135" dirty="0">
                <a:solidFill>
                  <a:schemeClr val="tx1"/>
                </a:solidFill>
                <a:latin typeface="Aptos Display" panose="020B0004020202020204" pitchFamily="34" charset="0"/>
                <a:cs typeface="Calibri"/>
              </a:rPr>
              <a:t>3. Sistema Operativo</a:t>
            </a:r>
            <a:endParaRPr sz="8850" dirty="0">
              <a:solidFill>
                <a:schemeClr val="tx1"/>
              </a:solidFill>
              <a:latin typeface="Aptos Display" panose="020B0004020202020204" pitchFamily="34" charset="0"/>
              <a:cs typeface="Calibri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363013-8ABD-C8D2-68BC-08F36C89AD3C}"/>
              </a:ext>
            </a:extLst>
          </p:cNvPr>
          <p:cNvSpPr txBox="1"/>
          <p:nvPr/>
        </p:nvSpPr>
        <p:spPr>
          <a:xfrm>
            <a:off x="5556250" y="6264050"/>
            <a:ext cx="89154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s-ES" sz="2800" b="1" spc="50" dirty="0">
                <a:solidFill>
                  <a:srgbClr val="037CC6"/>
                </a:solidFill>
                <a:latin typeface="Aptos Display" panose="020B0004020202020204" pitchFamily="34" charset="0"/>
                <a:cs typeface="Arial MT"/>
              </a:rPr>
              <a:t>Plataforma de Software y Entorno de Trabajo</a:t>
            </a:r>
            <a:endParaRPr lang="es-ES" sz="2800" b="1" dirty="0">
              <a:latin typeface="Aptos Display" panose="020B0004020202020204" pitchFamily="34" charset="0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9584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3736" y="1497810"/>
            <a:ext cx="17763857" cy="1386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25"/>
              </a:spcBef>
            </a:pPr>
            <a:r>
              <a:rPr lang="es-ES" spc="30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endParaRPr spc="300" dirty="0">
              <a:solidFill>
                <a:srgbClr val="111111"/>
              </a:solidFill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52641" y="3306267"/>
            <a:ext cx="8583295" cy="451860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15"/>
              </a:spcBef>
            </a:pPr>
            <a:r>
              <a:rPr lang="es-ES" sz="3850" b="1" dirty="0">
                <a:solidFill>
                  <a:srgbClr val="007EBF"/>
                </a:solidFill>
                <a:latin typeface="Aptos Display" panose="020B0004020202020204" pitchFamily="34" charset="0"/>
                <a:cs typeface="Arial MT"/>
              </a:rPr>
              <a:t>Entorno Profesional</a:t>
            </a:r>
            <a:endParaRPr sz="3850" b="1" dirty="0">
              <a:latin typeface="Aptos Display" panose="020B0004020202020204" pitchFamily="34" charset="0"/>
              <a:cs typeface="Arial MT"/>
            </a:endParaRPr>
          </a:p>
          <a:p>
            <a:pPr marL="12700" marR="5080" indent="12065" algn="just">
              <a:lnSpc>
                <a:spcPct val="134600"/>
              </a:lnSpc>
              <a:spcBef>
                <a:spcPts val="1390"/>
              </a:spcBef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Hemos seleccionado Windows 11 Pro como sistema operativo estándar por sus capacidades avanzadas de gestión:</a:t>
            </a:r>
          </a:p>
          <a:p>
            <a:pPr marL="355600" marR="5080" indent="-342900" algn="just">
              <a:lnSpc>
                <a:spcPct val="134600"/>
              </a:lnSpc>
              <a:spcBef>
                <a:spcPts val="1390"/>
              </a:spcBef>
              <a:buFont typeface="Arial" panose="020B0604020202020204" pitchFamily="34" charset="0"/>
              <a:buChar char="•"/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Seguridad mejorada con BitLocker y Sandbox.</a:t>
            </a:r>
          </a:p>
          <a:p>
            <a:pPr marL="355600" marR="5080" indent="-342900" algn="just">
              <a:lnSpc>
                <a:spcPct val="134600"/>
              </a:lnSpc>
              <a:spcBef>
                <a:spcPts val="1390"/>
              </a:spcBef>
              <a:buFont typeface="Arial" panose="020B0604020202020204" pitchFamily="34" charset="0"/>
              <a:buChar char="•"/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Compatibilidad nativa con software de edición 4K.</a:t>
            </a:r>
          </a:p>
          <a:p>
            <a:pPr marL="355600" marR="5080" indent="-342900" algn="just">
              <a:lnSpc>
                <a:spcPct val="134600"/>
              </a:lnSpc>
              <a:spcBef>
                <a:spcPts val="1390"/>
              </a:spcBef>
              <a:buFont typeface="Arial" panose="020B0604020202020204" pitchFamily="34" charset="0"/>
              <a:buChar char="•"/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Gestión eficiente de perfiles de usuario.</a:t>
            </a:r>
          </a:p>
          <a:p>
            <a:pPr marL="355600" marR="5080" indent="-342900" algn="just">
              <a:lnSpc>
                <a:spcPct val="134600"/>
              </a:lnSpc>
              <a:spcBef>
                <a:spcPts val="1390"/>
              </a:spcBef>
              <a:buFont typeface="Arial" panose="020B0604020202020204" pitchFamily="34" charset="0"/>
              <a:buChar char="•"/>
            </a:pPr>
            <a:r>
              <a:rPr lang="es-ES" sz="2450" dirty="0">
                <a:latin typeface="Aptos Display" panose="020B0004020202020204" pitchFamily="34" charset="0"/>
                <a:cs typeface="Arial MT"/>
              </a:rPr>
              <a:t>Soporte para virtualización y redes corporativas.</a:t>
            </a:r>
            <a:endParaRPr sz="2450" dirty="0">
              <a:latin typeface="Aptos Display" panose="020B0004020202020204" pitchFamily="34" charset="0"/>
              <a:cs typeface="Arial MT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F0105AEB-BB6D-E2D2-891C-FE1288F2171A}"/>
              </a:ext>
            </a:extLst>
          </p:cNvPr>
          <p:cNvSpPr txBox="1">
            <a:spLocks/>
          </p:cNvSpPr>
          <p:nvPr/>
        </p:nvSpPr>
        <p:spPr>
          <a:xfrm>
            <a:off x="1083736" y="1748905"/>
            <a:ext cx="17763857" cy="884215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900" b="0" i="0" kern="1200" spc="-198" baseline="0">
                <a:solidFill>
                  <a:srgbClr val="131313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5650" b="1" dirty="0">
                <a:solidFill>
                  <a:srgbClr val="151515"/>
                </a:solidFill>
                <a:latin typeface="Aptos Display" panose="020B0004020202020204" pitchFamily="34" charset="0"/>
              </a:rPr>
              <a:t>Windows 11 Pro</a:t>
            </a:r>
            <a:endParaRPr lang="es-ES" sz="5650" b="1" dirty="0">
              <a:latin typeface="Aptos Display" panose="020B0004020202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7839FF8C-215B-E7E8-84A9-17853BDAEB06}"/>
              </a:ext>
            </a:extLst>
          </p:cNvPr>
          <p:cNvCxnSpPr>
            <a:cxnSpLocks/>
          </p:cNvCxnSpPr>
          <p:nvPr/>
        </p:nvCxnSpPr>
        <p:spPr>
          <a:xfrm flipV="1">
            <a:off x="831850" y="1768475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1AC2431B-A30A-D4A1-84C0-5835B3010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" r="2553"/>
          <a:stretch/>
        </p:blipFill>
        <p:spPr>
          <a:xfrm>
            <a:off x="1083736" y="3306267"/>
            <a:ext cx="8467725" cy="50268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 w="38100">
            <a:solidFill>
              <a:schemeClr val="tx1"/>
            </a:solidFill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" t="181" r="14817" b="4065"/>
          <a:stretch/>
        </p:blipFill>
        <p:spPr>
          <a:xfrm>
            <a:off x="10052050" y="-1"/>
            <a:ext cx="10052050" cy="113093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36673" y="2613661"/>
            <a:ext cx="7406005" cy="195309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6300" dirty="0"/>
              <a:t> </a:t>
            </a:r>
            <a:br>
              <a:rPr lang="es-ES" sz="6300" dirty="0"/>
            </a:br>
            <a:endParaRPr sz="6300" dirty="0"/>
          </a:p>
        </p:txBody>
      </p:sp>
      <p:sp>
        <p:nvSpPr>
          <p:cNvPr id="4" name="object 4"/>
          <p:cNvSpPr txBox="1"/>
          <p:nvPr/>
        </p:nvSpPr>
        <p:spPr>
          <a:xfrm>
            <a:off x="925460" y="4654696"/>
            <a:ext cx="8135989" cy="494654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685">
              <a:lnSpc>
                <a:spcPts val="4610"/>
              </a:lnSpc>
              <a:spcBef>
                <a:spcPts val="120"/>
              </a:spcBef>
              <a:tabLst>
                <a:tab pos="2800350" algn="l"/>
                <a:tab pos="5418455" algn="l"/>
              </a:tabLst>
            </a:pPr>
            <a:r>
              <a:rPr lang="es-ES" sz="4100" b="1" spc="80" dirty="0">
                <a:solidFill>
                  <a:srgbClr val="0187CA"/>
                </a:solidFill>
                <a:latin typeface="Aptos Display" panose="020B0004020202020204" pitchFamily="34" charset="0"/>
                <a:cs typeface="Calibri"/>
              </a:rPr>
              <a:t>Conectividad </a:t>
            </a:r>
            <a:r>
              <a:rPr lang="es-ES" sz="4100" b="1" spc="80" dirty="0" err="1">
                <a:solidFill>
                  <a:srgbClr val="0187CA"/>
                </a:solidFill>
                <a:latin typeface="Aptos Display" panose="020B0004020202020204" pitchFamily="34" charset="0"/>
                <a:cs typeface="Calibri"/>
              </a:rPr>
              <a:t>WiFi</a:t>
            </a:r>
            <a:r>
              <a:rPr lang="es-ES" sz="4100" b="1" spc="80" dirty="0">
                <a:solidFill>
                  <a:srgbClr val="0187CA"/>
                </a:solidFill>
                <a:latin typeface="Aptos Display" panose="020B0004020202020204" pitchFamily="34" charset="0"/>
                <a:cs typeface="Calibri"/>
              </a:rPr>
              <a:t> 6</a:t>
            </a:r>
            <a:endParaRPr sz="4500" b="1" dirty="0">
              <a:latin typeface="Aptos Display" panose="020B0004020202020204" pitchFamily="34" charset="0"/>
              <a:cs typeface="Calibri"/>
            </a:endParaRPr>
          </a:p>
          <a:p>
            <a:pPr marL="12700" marR="5080" indent="17145" algn="just">
              <a:lnSpc>
                <a:spcPct val="129299"/>
              </a:lnSpc>
              <a:spcBef>
                <a:spcPts val="1345"/>
              </a:spcBef>
            </a:pPr>
            <a:r>
              <a:rPr lang="es-ES" sz="2550" dirty="0">
                <a:latin typeface="Aptos Display" panose="020B0004020202020204" pitchFamily="34" charset="0"/>
                <a:cs typeface="Arial MT"/>
              </a:rPr>
              <a:t>Nuestra red, diseñada en Cisco </a:t>
            </a:r>
            <a:r>
              <a:rPr lang="es-ES" sz="2550" dirty="0" err="1">
                <a:latin typeface="Aptos Display" panose="020B0004020202020204" pitchFamily="34" charset="0"/>
                <a:cs typeface="Arial MT"/>
              </a:rPr>
              <a:t>Packet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 </a:t>
            </a:r>
            <a:r>
              <a:rPr lang="es-ES" sz="2550" dirty="0" err="1">
                <a:latin typeface="Aptos Display" panose="020B0004020202020204" pitchFamily="34" charset="0"/>
                <a:cs typeface="Arial MT"/>
              </a:rPr>
              <a:t>Tracer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, garantiza estabilidad total: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dirty="0">
                <a:latin typeface="Aptos Display" panose="020B0004020202020204" pitchFamily="34" charset="0"/>
                <a:cs typeface="Arial MT"/>
              </a:rPr>
              <a:t>Switch Gigabit de 16 puertos.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dirty="0">
                <a:latin typeface="Aptos Display" panose="020B0004020202020204" pitchFamily="34" charset="0"/>
                <a:cs typeface="Arial MT"/>
              </a:rPr>
              <a:t>Punto de Acceso </a:t>
            </a:r>
            <a:r>
              <a:rPr lang="es-ES" sz="2550" dirty="0" err="1">
                <a:latin typeface="Aptos Display" panose="020B0004020202020204" pitchFamily="34" charset="0"/>
                <a:cs typeface="Arial MT"/>
              </a:rPr>
              <a:t>WiFi</a:t>
            </a:r>
            <a:r>
              <a:rPr lang="es-ES" sz="2550" dirty="0">
                <a:latin typeface="Aptos Display" panose="020B0004020202020204" pitchFamily="34" charset="0"/>
                <a:cs typeface="Arial MT"/>
              </a:rPr>
              <a:t> 6 dedicado.</a:t>
            </a:r>
          </a:p>
          <a:p>
            <a:pPr marL="469900" marR="5080" indent="-457200" algn="just">
              <a:lnSpc>
                <a:spcPct val="129299"/>
              </a:lnSpc>
              <a:spcBef>
                <a:spcPts val="1345"/>
              </a:spcBef>
              <a:buFont typeface="Arial" panose="020B0604020202020204" pitchFamily="34" charset="0"/>
              <a:buChar char="•"/>
            </a:pPr>
            <a:r>
              <a:rPr lang="es-ES" sz="2550" dirty="0">
                <a:latin typeface="Aptos Display" panose="020B0004020202020204" pitchFamily="34" charset="0"/>
                <a:cs typeface="Arial MT"/>
              </a:rPr>
              <a:t>Protección mediante SAI.</a:t>
            </a:r>
          </a:p>
          <a:p>
            <a:pPr marL="12700" marR="5080" algn="just">
              <a:lnSpc>
                <a:spcPct val="129299"/>
              </a:lnSpc>
              <a:spcBef>
                <a:spcPts val="1345"/>
              </a:spcBef>
            </a:pPr>
            <a:r>
              <a:rPr lang="es-ES" sz="2550" dirty="0">
                <a:latin typeface="Aptos Display" panose="020B0004020202020204" pitchFamily="34" charset="0"/>
                <a:cs typeface="Arial MT"/>
              </a:rPr>
              <a:t>Segmentamos el tráfico de gestión del tráfico de exposición para evitar interferencias.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B1AF55E-34AF-05E9-01A2-321C14167F45}"/>
              </a:ext>
            </a:extLst>
          </p:cNvPr>
          <p:cNvSpPr txBox="1">
            <a:spLocks/>
          </p:cNvSpPr>
          <p:nvPr/>
        </p:nvSpPr>
        <p:spPr>
          <a:xfrm>
            <a:off x="1083736" y="3091137"/>
            <a:ext cx="17763857" cy="938076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905" kern="1200" spc="-19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6000" b="1" dirty="0">
                <a:solidFill>
                  <a:srgbClr val="151515"/>
                </a:solidFill>
                <a:latin typeface="Aptos Display" panose="020B0004020202020204" pitchFamily="34" charset="0"/>
              </a:rPr>
              <a:t>Infraestructura de Red</a:t>
            </a:r>
            <a:endParaRPr lang="es-ES" sz="6000" b="1" dirty="0">
              <a:latin typeface="Aptos Display" panose="020B0004020202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CF97F0F-B5CE-A610-EB94-C6FB3ABBFA95}"/>
              </a:ext>
            </a:extLst>
          </p:cNvPr>
          <p:cNvCxnSpPr>
            <a:cxnSpLocks/>
          </p:cNvCxnSpPr>
          <p:nvPr/>
        </p:nvCxnSpPr>
        <p:spPr>
          <a:xfrm flipV="1">
            <a:off x="831850" y="3137637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4718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3736" y="1709470"/>
            <a:ext cx="17763857" cy="9630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130"/>
              </a:spcBef>
            </a:pPr>
            <a:r>
              <a:rPr lang="es-ES" sz="6150" spc="-60" dirty="0">
                <a:solidFill>
                  <a:srgbClr val="111111"/>
                </a:solidFill>
              </a:rPr>
              <a:t> </a:t>
            </a:r>
            <a:endParaRPr sz="615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9FB1929-8A4B-E73E-FDEF-4FC913F46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730493"/>
              </p:ext>
            </p:extLst>
          </p:nvPr>
        </p:nvGraphicFramePr>
        <p:xfrm>
          <a:off x="1365250" y="3558258"/>
          <a:ext cx="16840200" cy="478234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78270055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698090433"/>
                    </a:ext>
                  </a:extLst>
                </a:gridCol>
                <a:gridCol w="8534400">
                  <a:extLst>
                    <a:ext uri="{9D8B030D-6E8A-4147-A177-3AD203B41FA5}">
                      <a16:colId xmlns:a16="http://schemas.microsoft.com/office/drawing/2014/main" val="3717376012"/>
                    </a:ext>
                  </a:extLst>
                </a:gridCol>
              </a:tblGrid>
              <a:tr h="938073">
                <a:tc>
                  <a:txBody>
                    <a:bodyPr/>
                    <a:lstStyle/>
                    <a:p>
                      <a:pPr marL="1545946" lvl="2" algn="l">
                        <a:lnSpc>
                          <a:spcPct val="200000"/>
                        </a:lnSpc>
                      </a:pPr>
                      <a:r>
                        <a:rPr lang="es-ES" sz="2550" b="1" spc="-1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Rol</a:t>
                      </a:r>
                      <a:endParaRPr sz="2550" b="1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7495" algn="l">
                        <a:lnSpc>
                          <a:spcPct val="100000"/>
                        </a:lnSpc>
                      </a:pPr>
                      <a:r>
                        <a:rPr lang="es-ES" sz="2550" b="1" spc="-1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Nivel de Permisos</a:t>
                      </a:r>
                      <a:endParaRPr sz="2550" b="1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02715">
                        <a:lnSpc>
                          <a:spcPct val="200000"/>
                        </a:lnSpc>
                      </a:pPr>
                      <a:r>
                        <a:rPr lang="es-ES" sz="2550" b="1" spc="-25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Operaciones Permitidas</a:t>
                      </a:r>
                      <a:endParaRPr sz="2550" b="1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71131590"/>
                  </a:ext>
                </a:extLst>
              </a:tr>
              <a:tr h="1257185">
                <a:tc>
                  <a:txBody>
                    <a:bodyPr/>
                    <a:lstStyle/>
                    <a:p>
                      <a:pPr marL="1541501" lvl="2" algn="l">
                        <a:lnSpc>
                          <a:spcPct val="200000"/>
                        </a:lnSpc>
                        <a:spcBef>
                          <a:spcPts val="2225"/>
                        </a:spcBef>
                      </a:pPr>
                      <a:r>
                        <a:rPr lang="es-ES" sz="2200" spc="-45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Administrador</a:t>
                      </a:r>
                      <a:endParaRPr sz="22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82575" marB="0"/>
                </a:tc>
                <a:tc>
                  <a:txBody>
                    <a:bodyPr/>
                    <a:lstStyle/>
                    <a:p>
                      <a:pPr marL="1544320" algn="l">
                        <a:lnSpc>
                          <a:spcPct val="100000"/>
                        </a:lnSpc>
                        <a:spcBef>
                          <a:spcPts val="2225"/>
                        </a:spcBef>
                      </a:pPr>
                      <a:r>
                        <a:rPr lang="es-ES" sz="2200" spc="-35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RWX (Total)</a:t>
                      </a:r>
                      <a:endParaRPr sz="22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82575" marB="0" anchor="ctr"/>
                </a:tc>
                <a:tc>
                  <a:txBody>
                    <a:bodyPr/>
                    <a:lstStyle/>
                    <a:p>
                      <a:pPr marL="1401445">
                        <a:lnSpc>
                          <a:spcPct val="200000"/>
                        </a:lnSpc>
                        <a:spcBef>
                          <a:spcPts val="2225"/>
                        </a:spcBef>
                      </a:pPr>
                      <a:r>
                        <a:rPr lang="es-ES" sz="2200" spc="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Configuración de red, seguridad y gestión de BD total.</a:t>
                      </a:r>
                      <a:endParaRPr sz="2200" spc="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82575" marB="0"/>
                </a:tc>
                <a:extLst>
                  <a:ext uri="{0D108BD9-81ED-4DB2-BD59-A6C34878D82A}">
                    <a16:rowId xmlns:a16="http://schemas.microsoft.com/office/drawing/2014/main" val="3722747480"/>
                  </a:ext>
                </a:extLst>
              </a:tr>
              <a:tr h="1348959">
                <a:tc>
                  <a:txBody>
                    <a:bodyPr/>
                    <a:lstStyle/>
                    <a:p>
                      <a:pPr marL="1549756" lvl="2" algn="l">
                        <a:lnSpc>
                          <a:spcPct val="200000"/>
                        </a:lnSpc>
                        <a:spcBef>
                          <a:spcPts val="2205"/>
                        </a:spcBef>
                      </a:pPr>
                      <a:r>
                        <a:rPr lang="es-ES" sz="2200" spc="-2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Recepcionista</a:t>
                      </a:r>
                      <a:endParaRPr sz="22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80035" marB="0"/>
                </a:tc>
                <a:tc>
                  <a:txBody>
                    <a:bodyPr/>
                    <a:lstStyle/>
                    <a:p>
                      <a:pPr marL="1544320" algn="l">
                        <a:lnSpc>
                          <a:spcPct val="100000"/>
                        </a:lnSpc>
                        <a:spcBef>
                          <a:spcPts val="2205"/>
                        </a:spcBef>
                      </a:pPr>
                      <a:r>
                        <a:rPr lang="es-ES" sz="2200" spc="-3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RW (Limitado)</a:t>
                      </a:r>
                      <a:endParaRPr sz="22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80035" marB="0" anchor="ctr"/>
                </a:tc>
                <a:tc>
                  <a:txBody>
                    <a:bodyPr/>
                    <a:lstStyle/>
                    <a:p>
                      <a:pPr marL="1407160">
                        <a:lnSpc>
                          <a:spcPct val="200000"/>
                        </a:lnSpc>
                        <a:spcBef>
                          <a:spcPts val="2205"/>
                        </a:spcBef>
                      </a:pPr>
                      <a:r>
                        <a:rPr lang="es-ES" sz="2200" spc="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Carga de obras, atención al cliente y lectura de inventario.</a:t>
                      </a:r>
                      <a:endParaRPr sz="2200" spc="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80035" marB="0"/>
                </a:tc>
                <a:extLst>
                  <a:ext uri="{0D108BD9-81ED-4DB2-BD59-A6C34878D82A}">
                    <a16:rowId xmlns:a16="http://schemas.microsoft.com/office/drawing/2014/main" val="4093200360"/>
                  </a:ext>
                </a:extLst>
              </a:tr>
              <a:tr h="1238124">
                <a:tc>
                  <a:txBody>
                    <a:bodyPr/>
                    <a:lstStyle/>
                    <a:p>
                      <a:pPr marL="1539596" lvl="2" algn="l">
                        <a:lnSpc>
                          <a:spcPct val="200000"/>
                        </a:lnSpc>
                        <a:spcBef>
                          <a:spcPts val="2075"/>
                        </a:spcBef>
                      </a:pPr>
                      <a:r>
                        <a:rPr lang="es-ES" sz="2450" spc="-25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Invitado</a:t>
                      </a:r>
                      <a:endParaRPr sz="245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63525" marB="0"/>
                </a:tc>
                <a:tc>
                  <a:txBody>
                    <a:bodyPr/>
                    <a:lstStyle/>
                    <a:p>
                      <a:pPr marL="1559560" algn="l">
                        <a:lnSpc>
                          <a:spcPct val="100000"/>
                        </a:lnSpc>
                        <a:spcBef>
                          <a:spcPts val="2325"/>
                        </a:spcBef>
                      </a:pPr>
                      <a:r>
                        <a:rPr lang="es-ES" sz="2200" spc="-75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</a:rPr>
                        <a:t>R (Solo Lectura)</a:t>
                      </a:r>
                      <a:endParaRPr sz="220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95275" marB="0" anchor="ctr"/>
                </a:tc>
                <a:tc>
                  <a:txBody>
                    <a:bodyPr/>
                    <a:lstStyle/>
                    <a:p>
                      <a:pPr marL="1408430">
                        <a:lnSpc>
                          <a:spcPct val="200000"/>
                        </a:lnSpc>
                        <a:spcBef>
                          <a:spcPts val="2325"/>
                        </a:spcBef>
                      </a:pPr>
                      <a:r>
                        <a:rPr lang="es-ES" sz="2200" b="0" spc="0" dirty="0">
                          <a:solidFill>
                            <a:schemeClr val="tx1"/>
                          </a:solidFill>
                          <a:latin typeface="Aptos Display" panose="020B0004020202020204" pitchFamily="34" charset="0"/>
                          <a:cs typeface="Arial MT"/>
                        </a:rPr>
                        <a:t>Visualización de galerías públicas y catálogo.</a:t>
                      </a:r>
                      <a:endParaRPr sz="2200" b="0" spc="0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  <a:cs typeface="Arial MT"/>
                      </a:endParaRPr>
                    </a:p>
                  </a:txBody>
                  <a:tcPr marL="0" marR="0" marT="295275" marB="0"/>
                </a:tc>
                <a:extLst>
                  <a:ext uri="{0D108BD9-81ED-4DB2-BD59-A6C34878D82A}">
                    <a16:rowId xmlns:a16="http://schemas.microsoft.com/office/drawing/2014/main" val="2698314137"/>
                  </a:ext>
                </a:extLst>
              </a:tr>
            </a:tbl>
          </a:graphicData>
        </a:graphic>
      </p:graphicFrame>
      <p:sp>
        <p:nvSpPr>
          <p:cNvPr id="6" name="object 2">
            <a:extLst>
              <a:ext uri="{FF2B5EF4-FFF2-40B4-BE49-F238E27FC236}">
                <a16:creationId xmlns:a16="http://schemas.microsoft.com/office/drawing/2014/main" id="{E359E725-1E6B-76C8-0D1E-8DE301F7E99C}"/>
              </a:ext>
            </a:extLst>
          </p:cNvPr>
          <p:cNvSpPr txBox="1">
            <a:spLocks/>
          </p:cNvSpPr>
          <p:nvPr/>
        </p:nvSpPr>
        <p:spPr>
          <a:xfrm>
            <a:off x="1083736" y="1748905"/>
            <a:ext cx="17763857" cy="884215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900" b="0" i="0" kern="1200" spc="-198" baseline="0">
                <a:solidFill>
                  <a:srgbClr val="131313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5650" b="1" dirty="0">
                <a:solidFill>
                  <a:srgbClr val="151515"/>
                </a:solidFill>
                <a:latin typeface="Aptos Display" panose="020B0004020202020204" pitchFamily="34" charset="0"/>
              </a:rPr>
              <a:t>Control de Usuarios</a:t>
            </a:r>
            <a:endParaRPr lang="es-ES" sz="5650" b="1" dirty="0">
              <a:latin typeface="Aptos Display" panose="020B00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3879556-4E9E-55F4-721C-07B7360014EF}"/>
              </a:ext>
            </a:extLst>
          </p:cNvPr>
          <p:cNvCxnSpPr>
            <a:cxnSpLocks/>
          </p:cNvCxnSpPr>
          <p:nvPr/>
        </p:nvCxnSpPr>
        <p:spPr>
          <a:xfrm flipV="1">
            <a:off x="831850" y="1768475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380162" y="4664075"/>
            <a:ext cx="15343776" cy="27283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lang="es-ES" sz="2450" b="1" dirty="0">
                <a:solidFill>
                  <a:srgbClr val="0083C8"/>
                </a:solidFill>
                <a:latin typeface="Aptos Display" panose="020B0004020202020204" pitchFamily="34" charset="0"/>
                <a:cs typeface="Arial MT"/>
              </a:rPr>
              <a:t>Escalabilidad: 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El uso de </a:t>
            </a:r>
            <a:r>
              <a:rPr lang="es-ES" sz="2450" dirty="0" err="1">
                <a:latin typeface="Aptos Display" panose="020B0004020202020204" pitchFamily="34" charset="0"/>
                <a:cs typeface="Arial MT"/>
              </a:rPr>
              <a:t>WiFi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 6 permite añadir pantallas dinámicamente sin obras de cableado.</a:t>
            </a: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endParaRPr lang="es-ES" sz="2450" dirty="0">
              <a:latin typeface="Aptos Display" panose="020B0004020202020204" pitchFamily="34" charset="0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lang="es-ES" sz="2450" b="1" dirty="0">
                <a:solidFill>
                  <a:srgbClr val="0083C8"/>
                </a:solidFill>
                <a:latin typeface="Aptos Display" panose="020B0004020202020204" pitchFamily="34" charset="0"/>
                <a:cs typeface="Arial MT"/>
              </a:rPr>
              <a:t>Integridad: 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El sistema SAI garantiza que las obras no se interrumpan ante fallos eléctricos.</a:t>
            </a: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endParaRPr lang="es-ES" sz="2450" dirty="0">
              <a:latin typeface="Aptos Display" panose="020B0004020202020204" pitchFamily="34" charset="0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lang="es-ES" sz="2450" b="1" dirty="0">
                <a:solidFill>
                  <a:srgbClr val="0083C8"/>
                </a:solidFill>
                <a:latin typeface="Aptos Display" panose="020B0004020202020204" pitchFamily="34" charset="0"/>
                <a:cs typeface="Arial MT"/>
              </a:rPr>
              <a:t>Potencia: 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Hardware de última generación que soporta vídeo 4K sin pérdida de </a:t>
            </a:r>
            <a:r>
              <a:rPr lang="es-ES" sz="2450" dirty="0" err="1">
                <a:latin typeface="Aptos Display" panose="020B0004020202020204" pitchFamily="34" charset="0"/>
                <a:cs typeface="Arial MT"/>
              </a:rPr>
              <a:t>frames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.</a:t>
            </a: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endParaRPr lang="es-ES" sz="2450" dirty="0">
              <a:latin typeface="Aptos Display" panose="020B0004020202020204" pitchFamily="34" charset="0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lang="es-ES" sz="2450" b="1" dirty="0">
                <a:solidFill>
                  <a:srgbClr val="0083C8"/>
                </a:solidFill>
                <a:latin typeface="Aptos Display" panose="020B0004020202020204" pitchFamily="34" charset="0"/>
                <a:cs typeface="Arial MT"/>
              </a:rPr>
              <a:t>Orden: </a:t>
            </a:r>
            <a:r>
              <a:rPr lang="es-ES" sz="2450" dirty="0">
                <a:latin typeface="Aptos Display" panose="020B0004020202020204" pitchFamily="34" charset="0"/>
                <a:cs typeface="Arial MT"/>
              </a:rPr>
              <a:t>Repositorio GitHub centralizado para toda la documentación técnica SMR</a:t>
            </a:r>
            <a:endParaRPr sz="2450" dirty="0">
              <a:latin typeface="Aptos Display" panose="020B0004020202020204" pitchFamily="34" charset="0"/>
              <a:cs typeface="Arial MT"/>
            </a:endParaRP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DC7B611-2E45-0A61-49A9-00308FB06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24FEDF37-6A81-347B-4B85-0341CD017A4B}"/>
              </a:ext>
            </a:extLst>
          </p:cNvPr>
          <p:cNvSpPr txBox="1">
            <a:spLocks/>
          </p:cNvSpPr>
          <p:nvPr/>
        </p:nvSpPr>
        <p:spPr>
          <a:xfrm>
            <a:off x="1083736" y="1748905"/>
            <a:ext cx="17763857" cy="884215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900" b="0" i="0" kern="1200" spc="-198" baseline="0">
                <a:solidFill>
                  <a:srgbClr val="131313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5650" b="1" dirty="0">
                <a:solidFill>
                  <a:srgbClr val="151515"/>
                </a:solidFill>
                <a:latin typeface="Aptos Display" panose="020B0004020202020204" pitchFamily="34" charset="0"/>
              </a:rPr>
              <a:t>Ventajas Competitivas</a:t>
            </a:r>
            <a:endParaRPr lang="es-ES" sz="5650" b="1" dirty="0">
              <a:latin typeface="Aptos Display" panose="020B0004020202020204" pitchFamily="34" charset="0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D360FAA-AFD3-42D6-28E1-122A707988CA}"/>
              </a:ext>
            </a:extLst>
          </p:cNvPr>
          <p:cNvCxnSpPr>
            <a:cxnSpLocks/>
          </p:cNvCxnSpPr>
          <p:nvPr/>
        </p:nvCxnSpPr>
        <p:spPr>
          <a:xfrm flipV="1">
            <a:off x="831850" y="1768475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Imagen 12">
            <a:extLst>
              <a:ext uri="{FF2B5EF4-FFF2-40B4-BE49-F238E27FC236}">
                <a16:creationId xmlns:a16="http://schemas.microsoft.com/office/drawing/2014/main" id="{211909C2-D70E-09AF-0561-2C1D4CE0C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99" y="6810658"/>
            <a:ext cx="670911" cy="67091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A5E5A4D-38BD-D152-B6B5-1F1935E8E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98" y="6064938"/>
            <a:ext cx="670911" cy="67091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A87BCA2-9A35-E4F3-A922-86CF734FB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98" y="5319219"/>
            <a:ext cx="670911" cy="67091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43416C8-B846-E448-3784-DA69E7F13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97" y="4573500"/>
            <a:ext cx="670911" cy="6709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81250" y="8397875"/>
            <a:ext cx="4558665" cy="2118913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340995">
              <a:lnSpc>
                <a:spcPct val="135700"/>
              </a:lnSpc>
              <a:spcBef>
                <a:spcPts val="65"/>
              </a:spcBef>
              <a:tabLst>
                <a:tab pos="343535" algn="l"/>
              </a:tabLst>
            </a:pPr>
            <a:r>
              <a:rPr lang="es-ES" sz="2000" spc="85" dirty="0">
                <a:solidFill>
                  <a:srgbClr val="444444"/>
                </a:solidFill>
                <a:latin typeface="Aptos Display" panose="020B0004020202020204" pitchFamily="34" charset="0"/>
                <a:cs typeface="Calibri"/>
              </a:rPr>
              <a:t>Juan Antonio Rey Vicente</a:t>
            </a:r>
          </a:p>
          <a:p>
            <a:pPr marL="12700" marR="5080" indent="340995">
              <a:lnSpc>
                <a:spcPct val="135700"/>
              </a:lnSpc>
              <a:spcBef>
                <a:spcPts val="65"/>
              </a:spcBef>
              <a:tabLst>
                <a:tab pos="343535" algn="l"/>
              </a:tabLst>
            </a:pPr>
            <a:endParaRPr lang="es-ES" sz="2000" spc="85" dirty="0">
              <a:solidFill>
                <a:srgbClr val="444444"/>
              </a:solidFill>
              <a:latin typeface="Aptos Display" panose="020B0004020202020204" pitchFamily="34" charset="0"/>
              <a:cs typeface="Calibri"/>
            </a:endParaRPr>
          </a:p>
          <a:p>
            <a:pPr marL="12700" marR="5080" indent="340995">
              <a:lnSpc>
                <a:spcPct val="135700"/>
              </a:lnSpc>
              <a:spcBef>
                <a:spcPts val="65"/>
              </a:spcBef>
              <a:tabLst>
                <a:tab pos="343535" algn="l"/>
              </a:tabLst>
            </a:pPr>
            <a:r>
              <a:rPr lang="es-ES" sz="2000" spc="85" dirty="0">
                <a:solidFill>
                  <a:srgbClr val="444444"/>
                </a:solidFill>
                <a:latin typeface="Aptos Display" panose="020B0004020202020204" pitchFamily="34" charset="0"/>
                <a:cs typeface="Calibri"/>
              </a:rPr>
              <a:t>Proyecto Intermodular 1º SMR</a:t>
            </a:r>
          </a:p>
          <a:p>
            <a:pPr marL="12700" marR="5080" indent="340995">
              <a:lnSpc>
                <a:spcPct val="135700"/>
              </a:lnSpc>
              <a:spcBef>
                <a:spcPts val="65"/>
              </a:spcBef>
              <a:tabLst>
                <a:tab pos="343535" algn="l"/>
              </a:tabLst>
            </a:pPr>
            <a:endParaRPr lang="es-ES" sz="2000" spc="85" dirty="0">
              <a:solidFill>
                <a:srgbClr val="444444"/>
              </a:solidFill>
              <a:latin typeface="Aptos Display" panose="020B0004020202020204" pitchFamily="34" charset="0"/>
              <a:cs typeface="Calibri"/>
            </a:endParaRPr>
          </a:p>
          <a:p>
            <a:pPr marL="12700" marR="5080" indent="340995">
              <a:lnSpc>
                <a:spcPct val="135700"/>
              </a:lnSpc>
              <a:spcBef>
                <a:spcPts val="65"/>
              </a:spcBef>
              <a:tabLst>
                <a:tab pos="343535" algn="l"/>
              </a:tabLst>
            </a:pPr>
            <a:r>
              <a:rPr lang="es-ES" sz="2000" spc="85" dirty="0">
                <a:solidFill>
                  <a:srgbClr val="444444"/>
                </a:solidFill>
                <a:latin typeface="Aptos Display" panose="020B0004020202020204" pitchFamily="34" charset="0"/>
                <a:cs typeface="Calibri"/>
              </a:rPr>
              <a:t>Vilagarcía de Arousa, Galicia</a:t>
            </a:r>
            <a:endParaRPr sz="2000" dirty="0">
              <a:latin typeface="Aptos Display" panose="020B0004020202020204" pitchFamily="34" charset="0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67386F-3FF3-7FE2-BCA6-D0E23461A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2335" y="8464550"/>
            <a:ext cx="300887" cy="3008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BE44AD5-3141-6052-740C-8540BB26E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1928" y="9266573"/>
            <a:ext cx="381515" cy="38151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95FFCE0-530F-9D20-C5A5-B5DC10E33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8941" y="10149224"/>
            <a:ext cx="327677" cy="327677"/>
          </a:xfrm>
          <a:prstGeom prst="rect">
            <a:avLst/>
          </a:prstGeom>
        </p:spPr>
      </p:pic>
      <p:sp>
        <p:nvSpPr>
          <p:cNvPr id="13" name="object 2">
            <a:extLst>
              <a:ext uri="{FF2B5EF4-FFF2-40B4-BE49-F238E27FC236}">
                <a16:creationId xmlns:a16="http://schemas.microsoft.com/office/drawing/2014/main" id="{01FA044D-1881-A83D-D8FF-A151CAB8C71E}"/>
              </a:ext>
            </a:extLst>
          </p:cNvPr>
          <p:cNvSpPr txBox="1">
            <a:spLocks/>
          </p:cNvSpPr>
          <p:nvPr/>
        </p:nvSpPr>
        <p:spPr>
          <a:xfrm>
            <a:off x="1083736" y="1748905"/>
            <a:ext cx="17763857" cy="884215"/>
          </a:xfrm>
          <a:prstGeom prst="rect">
            <a:avLst/>
          </a:prstGeom>
        </p:spPr>
        <p:txBody>
          <a:bodyPr vert="horz" wrap="square" lIns="0" tIns="14604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900" b="0" i="0" kern="1200" spc="-198" baseline="0">
                <a:solidFill>
                  <a:srgbClr val="131313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3175">
              <a:lnSpc>
                <a:spcPct val="100000"/>
              </a:lnSpc>
              <a:spcBef>
                <a:spcPts val="114"/>
              </a:spcBef>
            </a:pPr>
            <a:r>
              <a:rPr lang="es-ES" sz="5650" b="1" dirty="0">
                <a:solidFill>
                  <a:srgbClr val="151515"/>
                </a:solidFill>
                <a:latin typeface="Aptos Display" panose="020B0004020202020204" pitchFamily="34" charset="0"/>
              </a:rPr>
              <a:t>Información Adicional</a:t>
            </a:r>
            <a:endParaRPr lang="es-ES" sz="5650" b="1" dirty="0">
              <a:latin typeface="Aptos Display" panose="020B0004020202020204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E76A3CC-9595-5DB3-EA08-38FECD88E228}"/>
              </a:ext>
            </a:extLst>
          </p:cNvPr>
          <p:cNvCxnSpPr>
            <a:cxnSpLocks/>
          </p:cNvCxnSpPr>
          <p:nvPr/>
        </p:nvCxnSpPr>
        <p:spPr>
          <a:xfrm flipV="1">
            <a:off x="831850" y="1768475"/>
            <a:ext cx="0" cy="799183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object 3">
            <a:extLst>
              <a:ext uri="{FF2B5EF4-FFF2-40B4-BE49-F238E27FC236}">
                <a16:creationId xmlns:a16="http://schemas.microsoft.com/office/drawing/2014/main" id="{0AD3B547-6C35-A7A0-5F5A-701F86989B5C}"/>
              </a:ext>
            </a:extLst>
          </p:cNvPr>
          <p:cNvSpPr txBox="1"/>
          <p:nvPr/>
        </p:nvSpPr>
        <p:spPr>
          <a:xfrm>
            <a:off x="4669154" y="5520089"/>
            <a:ext cx="969652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ES" sz="2800" spc="-114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  <a:cs typeface="Arial MT"/>
              </a:rPr>
              <a:t>Toda la documentación, esquemas y bases de datos están disponibles en:</a:t>
            </a:r>
            <a:endParaRPr sz="2800" dirty="0">
              <a:solidFill>
                <a:schemeClr val="tx1">
                  <a:lumMod val="65000"/>
                  <a:lumOff val="35000"/>
                </a:schemeClr>
              </a:solidFill>
              <a:latin typeface="Aptos Display" panose="020B0004020202020204" pitchFamily="34" charset="0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69720E7-62AD-EE8E-571B-7A4656429F45}"/>
              </a:ext>
            </a:extLst>
          </p:cNvPr>
          <p:cNvSpPr txBox="1"/>
          <p:nvPr/>
        </p:nvSpPr>
        <p:spPr>
          <a:xfrm>
            <a:off x="5542438" y="6428970"/>
            <a:ext cx="8763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400" dirty="0">
                <a:latin typeface="Aptos Display" panose="020B0004020202020204" pitchFamily="34" charset="0"/>
                <a:cs typeface="Arial MT"/>
                <a:hlinkClick r:id="rId5"/>
              </a:rPr>
              <a:t>https://github.com/juanreyart/Proyecto_Intermodular_SMR_Juan_Rey</a:t>
            </a:r>
            <a:endParaRPr sz="2400" dirty="0">
              <a:latin typeface="Aptos Display" panose="020B0004020202020204" pitchFamily="34" charset="0"/>
              <a:cs typeface="Arial MT"/>
            </a:endParaRPr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04D21EA7-F75A-BBD2-E3FC-061BD82CC487}"/>
              </a:ext>
            </a:extLst>
          </p:cNvPr>
          <p:cNvSpPr txBox="1">
            <a:spLocks/>
          </p:cNvSpPr>
          <p:nvPr/>
        </p:nvSpPr>
        <p:spPr>
          <a:xfrm>
            <a:off x="6165850" y="4684400"/>
            <a:ext cx="6703135" cy="506549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>
            <a:lvl1pPr algn="l" defTabSz="150784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905" kern="1200" spc="-19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s-ES" sz="3200" spc="300" dirty="0">
                <a:solidFill>
                  <a:srgbClr val="0782C6"/>
                </a:solidFill>
                <a:latin typeface="Aptos Display" panose="020B0004020202020204" pitchFamily="34" charset="0"/>
              </a:rPr>
              <a:t>Acceso al Repositorio Completo</a:t>
            </a:r>
            <a:endParaRPr lang="es-ES" sz="3200" spc="300" dirty="0">
              <a:latin typeface="Aptos Display" panose="020B00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DB099FE-D294-D051-F532-39268BC712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4868" y="6277085"/>
            <a:ext cx="533400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etropolitano">
  <a:themeElements>
    <a:clrScheme name="Metropolitano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TM03457491[[fn=Metropolitano]]</Template>
  <TotalTime>295</TotalTime>
  <Words>483</Words>
  <Application>Microsoft Office PowerPoint</Application>
  <PresentationFormat>Personalizado</PresentationFormat>
  <Paragraphs>79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Aptos Display</vt:lpstr>
      <vt:lpstr>Arial</vt:lpstr>
      <vt:lpstr>Arial MT</vt:lpstr>
      <vt:lpstr>Calibri</vt:lpstr>
      <vt:lpstr>Calibri Light</vt:lpstr>
      <vt:lpstr>Metropolitano</vt:lpstr>
      <vt:lpstr>Galería de Arte Digital</vt:lpstr>
      <vt:lpstr>1. Descripción de la Empresa</vt:lpstr>
      <vt:lpstr>Galería de Arte Digital</vt:lpstr>
      <vt:lpstr> </vt:lpstr>
      <vt:lpstr>2. Equipos Informáticos</vt:lpstr>
      <vt:lpstr>  </vt:lpstr>
      <vt:lpstr>3. Sistema Operativo</vt:lpstr>
      <vt:lpstr> </vt:lpstr>
      <vt:lpstr>  </vt:lpstr>
      <vt:lpstr> </vt:lpstr>
      <vt:lpstr>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juan rey</dc:creator>
  <cp:lastModifiedBy>juan rey</cp:lastModifiedBy>
  <cp:revision>9</cp:revision>
  <dcterms:created xsi:type="dcterms:W3CDTF">2026-04-30T11:21:01Z</dcterms:created>
  <dcterms:modified xsi:type="dcterms:W3CDTF">2026-05-01T12:07:09Z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2026-04-30T00:00:00Z</vt:filetime>
  </property>
  <property fmtid="{D5CDD505-2E9C-101B-9397-08002B2CF9AE}" pid="3" name="LastSaved">
    <vt:filetime>2026-04-30T00:00:00Z</vt:filetime>
  </property>
</Properties>
</file>